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3" r:id="rId3"/>
    <p:sldId id="258" r:id="rId4"/>
    <p:sldId id="274" r:id="rId5"/>
    <p:sldId id="259" r:id="rId6"/>
    <p:sldId id="275" r:id="rId7"/>
    <p:sldId id="260" r:id="rId8"/>
    <p:sldId id="276" r:id="rId9"/>
    <p:sldId id="261" r:id="rId10"/>
    <p:sldId id="277" r:id="rId11"/>
    <p:sldId id="262" r:id="rId12"/>
    <p:sldId id="278" r:id="rId13"/>
    <p:sldId id="263" r:id="rId14"/>
    <p:sldId id="279" r:id="rId15"/>
    <p:sldId id="264" r:id="rId16"/>
    <p:sldId id="280" r:id="rId17"/>
    <p:sldId id="265" r:id="rId18"/>
    <p:sldId id="281" r:id="rId19"/>
    <p:sldId id="266" r:id="rId20"/>
    <p:sldId id="282" r:id="rId21"/>
    <p:sldId id="267" r:id="rId22"/>
    <p:sldId id="283" r:id="rId23"/>
    <p:sldId id="268" r:id="rId24"/>
    <p:sldId id="284" r:id="rId25"/>
    <p:sldId id="269" r:id="rId26"/>
    <p:sldId id="285" r:id="rId27"/>
    <p:sldId id="270" r:id="rId28"/>
    <p:sldId id="286" r:id="rId29"/>
    <p:sldId id="271" r:id="rId30"/>
    <p:sldId id="287" r:id="rId31"/>
    <p:sldId id="272" r:id="rId32"/>
    <p:sldId id="25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D2E495-AAE1-4409-9877-AA825F56016F}" v="55" dt="2026-01-15T18:43:46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d al Rida Hassan Nehme" userId="b0ef3417-276f-4069-bd38-8883698bac84" providerId="ADAL" clId="{D64DA7CE-AA1B-4A61-9630-7094F0849FA9}"/>
    <pc:docChg chg="undo custSel addSld modSld sldOrd">
      <pc:chgData name="Abed al Rida Hassan Nehme" userId="b0ef3417-276f-4069-bd38-8883698bac84" providerId="ADAL" clId="{D64DA7CE-AA1B-4A61-9630-7094F0849FA9}" dt="2026-01-15T18:43:46.601" v="285"/>
      <pc:docMkLst>
        <pc:docMk/>
      </pc:docMkLst>
      <pc:sldChg chg="ord">
        <pc:chgData name="Abed al Rida Hassan Nehme" userId="b0ef3417-276f-4069-bd38-8883698bac84" providerId="ADAL" clId="{D64DA7CE-AA1B-4A61-9630-7094F0849FA9}" dt="2026-01-15T18:26:23.008" v="42"/>
        <pc:sldMkLst>
          <pc:docMk/>
          <pc:sldMk cId="4251270214" sldId="256"/>
        </pc:sldMkLst>
      </pc:sldChg>
      <pc:sldChg chg="modSp mod">
        <pc:chgData name="Abed al Rida Hassan Nehme" userId="b0ef3417-276f-4069-bd38-8883698bac84" providerId="ADAL" clId="{D64DA7CE-AA1B-4A61-9630-7094F0849FA9}" dt="2026-01-15T18:24:35.899" v="8" actId="1076"/>
        <pc:sldMkLst>
          <pc:docMk/>
          <pc:sldMk cId="2134247026" sldId="258"/>
        </pc:sldMkLst>
        <pc:spChg chg="mod">
          <ac:chgData name="Abed al Rida Hassan Nehme" userId="b0ef3417-276f-4069-bd38-8883698bac84" providerId="ADAL" clId="{D64DA7CE-AA1B-4A61-9630-7094F0849FA9}" dt="2026-01-15T18:24:35.899" v="8" actId="1076"/>
          <ac:spMkLst>
            <pc:docMk/>
            <pc:sldMk cId="2134247026" sldId="258"/>
            <ac:spMk id="7" creationId="{5C640AD0-AB9E-FB78-5FA8-B652F10B9AD6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25:30.586" v="22" actId="20577"/>
        <pc:sldMkLst>
          <pc:docMk/>
          <pc:sldMk cId="1588802728" sldId="259"/>
        </pc:sldMkLst>
        <pc:spChg chg="mod">
          <ac:chgData name="Abed al Rida Hassan Nehme" userId="b0ef3417-276f-4069-bd38-8883698bac84" providerId="ADAL" clId="{D64DA7CE-AA1B-4A61-9630-7094F0849FA9}" dt="2026-01-15T18:24:46.250" v="11" actId="20577"/>
          <ac:spMkLst>
            <pc:docMk/>
            <pc:sldMk cId="1588802728" sldId="259"/>
            <ac:spMk id="6" creationId="{9E85D281-47CB-B496-5C6D-DD088C036AFD}"/>
          </ac:spMkLst>
        </pc:spChg>
        <pc:spChg chg="mod">
          <ac:chgData name="Abed al Rida Hassan Nehme" userId="b0ef3417-276f-4069-bd38-8883698bac84" providerId="ADAL" clId="{D64DA7CE-AA1B-4A61-9630-7094F0849FA9}" dt="2026-01-15T18:25:30.586" v="22" actId="20577"/>
          <ac:spMkLst>
            <pc:docMk/>
            <pc:sldMk cId="1588802728" sldId="259"/>
            <ac:spMk id="7" creationId="{D69B2886-721D-72C8-BE9B-BB292ABD660B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26:16.668" v="39" actId="20577"/>
        <pc:sldMkLst>
          <pc:docMk/>
          <pc:sldMk cId="3485394540" sldId="260"/>
        </pc:sldMkLst>
        <pc:spChg chg="mod">
          <ac:chgData name="Abed al Rida Hassan Nehme" userId="b0ef3417-276f-4069-bd38-8883698bac84" providerId="ADAL" clId="{D64DA7CE-AA1B-4A61-9630-7094F0849FA9}" dt="2026-01-15T18:25:47.631" v="25" actId="20577"/>
          <ac:spMkLst>
            <pc:docMk/>
            <pc:sldMk cId="3485394540" sldId="260"/>
            <ac:spMk id="6" creationId="{D1CB689B-0300-E4AC-7037-27816FAD1C4C}"/>
          </ac:spMkLst>
        </pc:spChg>
        <pc:spChg chg="mod">
          <ac:chgData name="Abed al Rida Hassan Nehme" userId="b0ef3417-276f-4069-bd38-8883698bac84" providerId="ADAL" clId="{D64DA7CE-AA1B-4A61-9630-7094F0849FA9}" dt="2026-01-15T18:26:16.668" v="39" actId="20577"/>
          <ac:spMkLst>
            <pc:docMk/>
            <pc:sldMk cId="3485394540" sldId="260"/>
            <ac:spMk id="7" creationId="{B3563CDF-1DC0-B8F3-0A99-54111746581A}"/>
          </ac:spMkLst>
        </pc:spChg>
      </pc:sldChg>
      <pc:sldChg chg="addSp delSp modSp add mod">
        <pc:chgData name="Abed al Rida Hassan Nehme" userId="b0ef3417-276f-4069-bd38-8883698bac84" providerId="ADAL" clId="{D64DA7CE-AA1B-4A61-9630-7094F0849FA9}" dt="2026-01-15T18:27:29.244" v="69" actId="1076"/>
        <pc:sldMkLst>
          <pc:docMk/>
          <pc:sldMk cId="3456168383" sldId="261"/>
        </pc:sldMkLst>
        <pc:spChg chg="add del mod">
          <ac:chgData name="Abed al Rida Hassan Nehme" userId="b0ef3417-276f-4069-bd38-8883698bac84" providerId="ADAL" clId="{D64DA7CE-AA1B-4A61-9630-7094F0849FA9}" dt="2026-01-15T18:26:33.045" v="50" actId="20577"/>
          <ac:spMkLst>
            <pc:docMk/>
            <pc:sldMk cId="3456168383" sldId="261"/>
            <ac:spMk id="6" creationId="{35A04E50-3E00-A67D-5CC6-F7DA272DE1B6}"/>
          </ac:spMkLst>
        </pc:spChg>
        <pc:spChg chg="mod">
          <ac:chgData name="Abed al Rida Hassan Nehme" userId="b0ef3417-276f-4069-bd38-8883698bac84" providerId="ADAL" clId="{D64DA7CE-AA1B-4A61-9630-7094F0849FA9}" dt="2026-01-15T18:27:29.244" v="69" actId="1076"/>
          <ac:spMkLst>
            <pc:docMk/>
            <pc:sldMk cId="3456168383" sldId="261"/>
            <ac:spMk id="7" creationId="{EB2EE144-7E40-E2A3-37C9-4514B8399DE0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28:31.592" v="87" actId="20577"/>
        <pc:sldMkLst>
          <pc:docMk/>
          <pc:sldMk cId="710586664" sldId="262"/>
        </pc:sldMkLst>
        <pc:spChg chg="mod">
          <ac:chgData name="Abed al Rida Hassan Nehme" userId="b0ef3417-276f-4069-bd38-8883698bac84" providerId="ADAL" clId="{D64DA7CE-AA1B-4A61-9630-7094F0849FA9}" dt="2026-01-15T18:27:54.846" v="74" actId="20577"/>
          <ac:spMkLst>
            <pc:docMk/>
            <pc:sldMk cId="710586664" sldId="262"/>
            <ac:spMk id="6" creationId="{5AA7D905-06FD-B893-F6C2-A280BAB1A610}"/>
          </ac:spMkLst>
        </pc:spChg>
        <pc:spChg chg="mod">
          <ac:chgData name="Abed al Rida Hassan Nehme" userId="b0ef3417-276f-4069-bd38-8883698bac84" providerId="ADAL" clId="{D64DA7CE-AA1B-4A61-9630-7094F0849FA9}" dt="2026-01-15T18:28:31.592" v="87" actId="20577"/>
          <ac:spMkLst>
            <pc:docMk/>
            <pc:sldMk cId="710586664" sldId="262"/>
            <ac:spMk id="7" creationId="{76A257C2-2F65-7351-75D3-3578EBFC3846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29:07.714" v="101" actId="1076"/>
        <pc:sldMkLst>
          <pc:docMk/>
          <pc:sldMk cId="1163499428" sldId="263"/>
        </pc:sldMkLst>
        <pc:spChg chg="mod">
          <ac:chgData name="Abed al Rida Hassan Nehme" userId="b0ef3417-276f-4069-bd38-8883698bac84" providerId="ADAL" clId="{D64DA7CE-AA1B-4A61-9630-7094F0849FA9}" dt="2026-01-15T18:28:45.871" v="92" actId="20577"/>
          <ac:spMkLst>
            <pc:docMk/>
            <pc:sldMk cId="1163499428" sldId="263"/>
            <ac:spMk id="6" creationId="{DD65D369-5E39-D52F-2303-C8C2AAC0C160}"/>
          </ac:spMkLst>
        </pc:spChg>
        <pc:spChg chg="mod">
          <ac:chgData name="Abed al Rida Hassan Nehme" userId="b0ef3417-276f-4069-bd38-8883698bac84" providerId="ADAL" clId="{D64DA7CE-AA1B-4A61-9630-7094F0849FA9}" dt="2026-01-15T18:29:07.714" v="101" actId="1076"/>
          <ac:spMkLst>
            <pc:docMk/>
            <pc:sldMk cId="1163499428" sldId="263"/>
            <ac:spMk id="7" creationId="{DE589ADE-8FB9-F637-1CB9-8D8FFDFDB75D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35:16.301" v="158" actId="20577"/>
        <pc:sldMkLst>
          <pc:docMk/>
          <pc:sldMk cId="3477393241" sldId="264"/>
        </pc:sldMkLst>
        <pc:spChg chg="mod">
          <ac:chgData name="Abed al Rida Hassan Nehme" userId="b0ef3417-276f-4069-bd38-8883698bac84" providerId="ADAL" clId="{D64DA7CE-AA1B-4A61-9630-7094F0849FA9}" dt="2026-01-15T18:29:13.028" v="104" actId="20577"/>
          <ac:spMkLst>
            <pc:docMk/>
            <pc:sldMk cId="3477393241" sldId="264"/>
            <ac:spMk id="6" creationId="{EC47A191-6B96-AC9F-5837-679D7AF1B311}"/>
          </ac:spMkLst>
        </pc:spChg>
        <pc:spChg chg="mod">
          <ac:chgData name="Abed al Rida Hassan Nehme" userId="b0ef3417-276f-4069-bd38-8883698bac84" providerId="ADAL" clId="{D64DA7CE-AA1B-4A61-9630-7094F0849FA9}" dt="2026-01-15T18:35:16.301" v="158" actId="20577"/>
          <ac:spMkLst>
            <pc:docMk/>
            <pc:sldMk cId="3477393241" sldId="264"/>
            <ac:spMk id="7" creationId="{D9B4C696-8968-C487-5149-0C0C4637729A}"/>
          </ac:spMkLst>
        </pc:spChg>
      </pc:sldChg>
      <pc:sldChg chg="addSp delSp modSp add mod">
        <pc:chgData name="Abed al Rida Hassan Nehme" userId="b0ef3417-276f-4069-bd38-8883698bac84" providerId="ADAL" clId="{D64DA7CE-AA1B-4A61-9630-7094F0849FA9}" dt="2026-01-15T18:35:37.537" v="163" actId="20577"/>
        <pc:sldMkLst>
          <pc:docMk/>
          <pc:sldMk cId="3390159417" sldId="265"/>
        </pc:sldMkLst>
        <pc:spChg chg="add del">
          <ac:chgData name="Abed al Rida Hassan Nehme" userId="b0ef3417-276f-4069-bd38-8883698bac84" providerId="ADAL" clId="{D64DA7CE-AA1B-4A61-9630-7094F0849FA9}" dt="2026-01-15T18:29:46.351" v="112" actId="22"/>
          <ac:spMkLst>
            <pc:docMk/>
            <pc:sldMk cId="3390159417" sldId="265"/>
            <ac:spMk id="3" creationId="{77DB3D2F-350A-646E-B150-04DB0EB0075D}"/>
          </ac:spMkLst>
        </pc:spChg>
        <pc:spChg chg="mod">
          <ac:chgData name="Abed al Rida Hassan Nehme" userId="b0ef3417-276f-4069-bd38-8883698bac84" providerId="ADAL" clId="{D64DA7CE-AA1B-4A61-9630-7094F0849FA9}" dt="2026-01-15T18:29:31.215" v="109" actId="20577"/>
          <ac:spMkLst>
            <pc:docMk/>
            <pc:sldMk cId="3390159417" sldId="265"/>
            <ac:spMk id="6" creationId="{39524EE1-4747-398F-AB0F-DF32B281C24F}"/>
          </ac:spMkLst>
        </pc:spChg>
        <pc:spChg chg="mod">
          <ac:chgData name="Abed al Rida Hassan Nehme" userId="b0ef3417-276f-4069-bd38-8883698bac84" providerId="ADAL" clId="{D64DA7CE-AA1B-4A61-9630-7094F0849FA9}" dt="2026-01-15T18:35:37.537" v="163" actId="20577"/>
          <ac:spMkLst>
            <pc:docMk/>
            <pc:sldMk cId="3390159417" sldId="265"/>
            <ac:spMk id="7" creationId="{9353120E-C2EE-1BA5-37D1-9BFAF3820192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36:07.187" v="172" actId="20577"/>
        <pc:sldMkLst>
          <pc:docMk/>
          <pc:sldMk cId="2714424372" sldId="266"/>
        </pc:sldMkLst>
        <pc:spChg chg="mod">
          <ac:chgData name="Abed al Rida Hassan Nehme" userId="b0ef3417-276f-4069-bd38-8883698bac84" providerId="ADAL" clId="{D64DA7CE-AA1B-4A61-9630-7094F0849FA9}" dt="2026-01-15T18:29:52.319" v="117" actId="20577"/>
          <ac:spMkLst>
            <pc:docMk/>
            <pc:sldMk cId="2714424372" sldId="266"/>
            <ac:spMk id="6" creationId="{F236935B-E945-A044-D2EB-D761573209EE}"/>
          </ac:spMkLst>
        </pc:spChg>
        <pc:spChg chg="mod">
          <ac:chgData name="Abed al Rida Hassan Nehme" userId="b0ef3417-276f-4069-bd38-8883698bac84" providerId="ADAL" clId="{D64DA7CE-AA1B-4A61-9630-7094F0849FA9}" dt="2026-01-15T18:36:07.187" v="172" actId="20577"/>
          <ac:spMkLst>
            <pc:docMk/>
            <pc:sldMk cId="2714424372" sldId="266"/>
            <ac:spMk id="7" creationId="{3D54163E-9F99-1AC0-EDA6-292F3F70551D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37:08.924" v="178" actId="20577"/>
        <pc:sldMkLst>
          <pc:docMk/>
          <pc:sldMk cId="2461741687" sldId="267"/>
        </pc:sldMkLst>
        <pc:spChg chg="mod">
          <ac:chgData name="Abed al Rida Hassan Nehme" userId="b0ef3417-276f-4069-bd38-8883698bac84" providerId="ADAL" clId="{D64DA7CE-AA1B-4A61-9630-7094F0849FA9}" dt="2026-01-15T18:30:04.812" v="123" actId="20577"/>
          <ac:spMkLst>
            <pc:docMk/>
            <pc:sldMk cId="2461741687" sldId="267"/>
            <ac:spMk id="6" creationId="{8F0F1151-86DD-D208-4067-B988CC62E4C5}"/>
          </ac:spMkLst>
        </pc:spChg>
        <pc:spChg chg="mod">
          <ac:chgData name="Abed al Rida Hassan Nehme" userId="b0ef3417-276f-4069-bd38-8883698bac84" providerId="ADAL" clId="{D64DA7CE-AA1B-4A61-9630-7094F0849FA9}" dt="2026-01-15T18:37:08.924" v="178" actId="20577"/>
          <ac:spMkLst>
            <pc:docMk/>
            <pc:sldMk cId="2461741687" sldId="267"/>
            <ac:spMk id="7" creationId="{612FD31E-E0A6-7434-3A6B-C524D6EF5F59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37:28.717" v="185" actId="20577"/>
        <pc:sldMkLst>
          <pc:docMk/>
          <pc:sldMk cId="546832365" sldId="268"/>
        </pc:sldMkLst>
        <pc:spChg chg="mod">
          <ac:chgData name="Abed al Rida Hassan Nehme" userId="b0ef3417-276f-4069-bd38-8883698bac84" providerId="ADAL" clId="{D64DA7CE-AA1B-4A61-9630-7094F0849FA9}" dt="2026-01-15T18:31:07.610" v="127" actId="20577"/>
          <ac:spMkLst>
            <pc:docMk/>
            <pc:sldMk cId="546832365" sldId="268"/>
            <ac:spMk id="6" creationId="{375EA5E3-DEA1-1C48-4584-93485BFB4362}"/>
          </ac:spMkLst>
        </pc:spChg>
        <pc:spChg chg="mod">
          <ac:chgData name="Abed al Rida Hassan Nehme" userId="b0ef3417-276f-4069-bd38-8883698bac84" providerId="ADAL" clId="{D64DA7CE-AA1B-4A61-9630-7094F0849FA9}" dt="2026-01-15T18:37:28.717" v="185" actId="20577"/>
          <ac:spMkLst>
            <pc:docMk/>
            <pc:sldMk cId="546832365" sldId="268"/>
            <ac:spMk id="7" creationId="{65F4D078-A034-F145-DEA7-FA77EC921003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38:46.312" v="196" actId="20577"/>
        <pc:sldMkLst>
          <pc:docMk/>
          <pc:sldMk cId="947436676" sldId="269"/>
        </pc:sldMkLst>
        <pc:spChg chg="mod">
          <ac:chgData name="Abed al Rida Hassan Nehme" userId="b0ef3417-276f-4069-bd38-8883698bac84" providerId="ADAL" clId="{D64DA7CE-AA1B-4A61-9630-7094F0849FA9}" dt="2026-01-15T18:31:40.240" v="136" actId="20577"/>
          <ac:spMkLst>
            <pc:docMk/>
            <pc:sldMk cId="947436676" sldId="269"/>
            <ac:spMk id="6" creationId="{CFC5D547-4CB2-BF9E-7817-E324A19BA236}"/>
          </ac:spMkLst>
        </pc:spChg>
        <pc:spChg chg="mod">
          <ac:chgData name="Abed al Rida Hassan Nehme" userId="b0ef3417-276f-4069-bd38-8883698bac84" providerId="ADAL" clId="{D64DA7CE-AA1B-4A61-9630-7094F0849FA9}" dt="2026-01-15T18:38:46.312" v="196" actId="20577"/>
          <ac:spMkLst>
            <pc:docMk/>
            <pc:sldMk cId="947436676" sldId="269"/>
            <ac:spMk id="7" creationId="{1C3D9F5B-0F26-2805-CE9F-C933AAE00F43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39:15.478" v="206" actId="20577"/>
        <pc:sldMkLst>
          <pc:docMk/>
          <pc:sldMk cId="1740013934" sldId="270"/>
        </pc:sldMkLst>
        <pc:spChg chg="mod">
          <ac:chgData name="Abed al Rida Hassan Nehme" userId="b0ef3417-276f-4069-bd38-8883698bac84" providerId="ADAL" clId="{D64DA7CE-AA1B-4A61-9630-7094F0849FA9}" dt="2026-01-15T18:32:52.456" v="140" actId="20577"/>
          <ac:spMkLst>
            <pc:docMk/>
            <pc:sldMk cId="1740013934" sldId="270"/>
            <ac:spMk id="6" creationId="{A3C9786F-E63D-2F99-9406-AF1500DC658C}"/>
          </ac:spMkLst>
        </pc:spChg>
        <pc:spChg chg="mod">
          <ac:chgData name="Abed al Rida Hassan Nehme" userId="b0ef3417-276f-4069-bd38-8883698bac84" providerId="ADAL" clId="{D64DA7CE-AA1B-4A61-9630-7094F0849FA9}" dt="2026-01-15T18:39:15.478" v="206" actId="20577"/>
          <ac:spMkLst>
            <pc:docMk/>
            <pc:sldMk cId="1740013934" sldId="270"/>
            <ac:spMk id="7" creationId="{D85F8C40-7025-008B-3181-4AF5EB07D047}"/>
          </ac:spMkLst>
        </pc:spChg>
      </pc:sldChg>
      <pc:sldChg chg="addSp delSp modSp add mod">
        <pc:chgData name="Abed al Rida Hassan Nehme" userId="b0ef3417-276f-4069-bd38-8883698bac84" providerId="ADAL" clId="{D64DA7CE-AA1B-4A61-9630-7094F0849FA9}" dt="2026-01-15T18:39:41.302" v="214" actId="20577"/>
        <pc:sldMkLst>
          <pc:docMk/>
          <pc:sldMk cId="1472506500" sldId="271"/>
        </pc:sldMkLst>
        <pc:spChg chg="add del">
          <ac:chgData name="Abed al Rida Hassan Nehme" userId="b0ef3417-276f-4069-bd38-8883698bac84" providerId="ADAL" clId="{D64DA7CE-AA1B-4A61-9630-7094F0849FA9}" dt="2026-01-15T18:33:25.923" v="148" actId="22"/>
          <ac:spMkLst>
            <pc:docMk/>
            <pc:sldMk cId="1472506500" sldId="271"/>
            <ac:spMk id="3" creationId="{9588964E-D452-621E-6015-475FBC50E4C2}"/>
          </ac:spMkLst>
        </pc:spChg>
        <pc:spChg chg="mod">
          <ac:chgData name="Abed al Rida Hassan Nehme" userId="b0ef3417-276f-4069-bd38-8883698bac84" providerId="ADAL" clId="{D64DA7CE-AA1B-4A61-9630-7094F0849FA9}" dt="2026-01-15T18:33:15.862" v="146" actId="20577"/>
          <ac:spMkLst>
            <pc:docMk/>
            <pc:sldMk cId="1472506500" sldId="271"/>
            <ac:spMk id="6" creationId="{D556B7EA-4CF1-0A2A-9DB6-50FD68814BD7}"/>
          </ac:spMkLst>
        </pc:spChg>
        <pc:spChg chg="mod">
          <ac:chgData name="Abed al Rida Hassan Nehme" userId="b0ef3417-276f-4069-bd38-8883698bac84" providerId="ADAL" clId="{D64DA7CE-AA1B-4A61-9630-7094F0849FA9}" dt="2026-01-15T18:39:41.302" v="214" actId="20577"/>
          <ac:spMkLst>
            <pc:docMk/>
            <pc:sldMk cId="1472506500" sldId="271"/>
            <ac:spMk id="7" creationId="{62CA1CFA-7042-F49A-6311-A619823E9239}"/>
          </ac:spMkLst>
        </pc:spChg>
      </pc:sldChg>
      <pc:sldChg chg="modSp add mod">
        <pc:chgData name="Abed al Rida Hassan Nehme" userId="b0ef3417-276f-4069-bd38-8883698bac84" providerId="ADAL" clId="{D64DA7CE-AA1B-4A61-9630-7094F0849FA9}" dt="2026-01-15T18:43:01.600" v="270" actId="1076"/>
        <pc:sldMkLst>
          <pc:docMk/>
          <pc:sldMk cId="597031560" sldId="272"/>
        </pc:sldMkLst>
        <pc:spChg chg="mod">
          <ac:chgData name="Abed al Rida Hassan Nehme" userId="b0ef3417-276f-4069-bd38-8883698bac84" providerId="ADAL" clId="{D64DA7CE-AA1B-4A61-9630-7094F0849FA9}" dt="2026-01-15T18:33:30.705" v="151" actId="20577"/>
          <ac:spMkLst>
            <pc:docMk/>
            <pc:sldMk cId="597031560" sldId="272"/>
            <ac:spMk id="6" creationId="{5C040F98-8E08-532A-1EB6-DA307D7FAB78}"/>
          </ac:spMkLst>
        </pc:spChg>
        <pc:spChg chg="mod">
          <ac:chgData name="Abed al Rida Hassan Nehme" userId="b0ef3417-276f-4069-bd38-8883698bac84" providerId="ADAL" clId="{D64DA7CE-AA1B-4A61-9630-7094F0849FA9}" dt="2026-01-15T18:43:01.600" v="270" actId="1076"/>
          <ac:spMkLst>
            <pc:docMk/>
            <pc:sldMk cId="597031560" sldId="272"/>
            <ac:spMk id="7" creationId="{BC5CCB7A-ABB0-8A6A-2110-55FC35F50063}"/>
          </ac:spMkLst>
        </pc:spChg>
      </pc:sldChg>
      <pc:sldChg chg="add">
        <pc:chgData name="Abed al Rida Hassan Nehme" userId="b0ef3417-276f-4069-bd38-8883698bac84" providerId="ADAL" clId="{D64DA7CE-AA1B-4A61-9630-7094F0849FA9}" dt="2026-01-15T18:43:32.983" v="271"/>
        <pc:sldMkLst>
          <pc:docMk/>
          <pc:sldMk cId="2240227709" sldId="273"/>
        </pc:sldMkLst>
      </pc:sldChg>
      <pc:sldChg chg="add">
        <pc:chgData name="Abed al Rida Hassan Nehme" userId="b0ef3417-276f-4069-bd38-8883698bac84" providerId="ADAL" clId="{D64DA7CE-AA1B-4A61-9630-7094F0849FA9}" dt="2026-01-15T18:43:33.975" v="272"/>
        <pc:sldMkLst>
          <pc:docMk/>
          <pc:sldMk cId="3524065849" sldId="274"/>
        </pc:sldMkLst>
      </pc:sldChg>
      <pc:sldChg chg="add">
        <pc:chgData name="Abed al Rida Hassan Nehme" userId="b0ef3417-276f-4069-bd38-8883698bac84" providerId="ADAL" clId="{D64DA7CE-AA1B-4A61-9630-7094F0849FA9}" dt="2026-01-15T18:43:35.009" v="273"/>
        <pc:sldMkLst>
          <pc:docMk/>
          <pc:sldMk cId="639828760" sldId="275"/>
        </pc:sldMkLst>
      </pc:sldChg>
      <pc:sldChg chg="add">
        <pc:chgData name="Abed al Rida Hassan Nehme" userId="b0ef3417-276f-4069-bd38-8883698bac84" providerId="ADAL" clId="{D64DA7CE-AA1B-4A61-9630-7094F0849FA9}" dt="2026-01-15T18:43:36.122" v="274"/>
        <pc:sldMkLst>
          <pc:docMk/>
          <pc:sldMk cId="1135706604" sldId="276"/>
        </pc:sldMkLst>
      </pc:sldChg>
      <pc:sldChg chg="add">
        <pc:chgData name="Abed al Rida Hassan Nehme" userId="b0ef3417-276f-4069-bd38-8883698bac84" providerId="ADAL" clId="{D64DA7CE-AA1B-4A61-9630-7094F0849FA9}" dt="2026-01-15T18:43:37.059" v="275"/>
        <pc:sldMkLst>
          <pc:docMk/>
          <pc:sldMk cId="2872245297" sldId="277"/>
        </pc:sldMkLst>
      </pc:sldChg>
      <pc:sldChg chg="add">
        <pc:chgData name="Abed al Rida Hassan Nehme" userId="b0ef3417-276f-4069-bd38-8883698bac84" providerId="ADAL" clId="{D64DA7CE-AA1B-4A61-9630-7094F0849FA9}" dt="2026-01-15T18:43:37.988" v="276"/>
        <pc:sldMkLst>
          <pc:docMk/>
          <pc:sldMk cId="2585841496" sldId="278"/>
        </pc:sldMkLst>
      </pc:sldChg>
      <pc:sldChg chg="add">
        <pc:chgData name="Abed al Rida Hassan Nehme" userId="b0ef3417-276f-4069-bd38-8883698bac84" providerId="ADAL" clId="{D64DA7CE-AA1B-4A61-9630-7094F0849FA9}" dt="2026-01-15T18:43:38.974" v="277"/>
        <pc:sldMkLst>
          <pc:docMk/>
          <pc:sldMk cId="1835534812" sldId="279"/>
        </pc:sldMkLst>
      </pc:sldChg>
      <pc:sldChg chg="add">
        <pc:chgData name="Abed al Rida Hassan Nehme" userId="b0ef3417-276f-4069-bd38-8883698bac84" providerId="ADAL" clId="{D64DA7CE-AA1B-4A61-9630-7094F0849FA9}" dt="2026-01-15T18:43:39.883" v="278"/>
        <pc:sldMkLst>
          <pc:docMk/>
          <pc:sldMk cId="3563055853" sldId="280"/>
        </pc:sldMkLst>
      </pc:sldChg>
      <pc:sldChg chg="add">
        <pc:chgData name="Abed al Rida Hassan Nehme" userId="b0ef3417-276f-4069-bd38-8883698bac84" providerId="ADAL" clId="{D64DA7CE-AA1B-4A61-9630-7094F0849FA9}" dt="2026-01-15T18:43:40.769" v="279"/>
        <pc:sldMkLst>
          <pc:docMk/>
          <pc:sldMk cId="289561380" sldId="281"/>
        </pc:sldMkLst>
      </pc:sldChg>
      <pc:sldChg chg="add">
        <pc:chgData name="Abed al Rida Hassan Nehme" userId="b0ef3417-276f-4069-bd38-8883698bac84" providerId="ADAL" clId="{D64DA7CE-AA1B-4A61-9630-7094F0849FA9}" dt="2026-01-15T18:43:41.739" v="280"/>
        <pc:sldMkLst>
          <pc:docMk/>
          <pc:sldMk cId="1113896699" sldId="282"/>
        </pc:sldMkLst>
      </pc:sldChg>
      <pc:sldChg chg="add">
        <pc:chgData name="Abed al Rida Hassan Nehme" userId="b0ef3417-276f-4069-bd38-8883698bac84" providerId="ADAL" clId="{D64DA7CE-AA1B-4A61-9630-7094F0849FA9}" dt="2026-01-15T18:43:42.733" v="281"/>
        <pc:sldMkLst>
          <pc:docMk/>
          <pc:sldMk cId="1570630840" sldId="283"/>
        </pc:sldMkLst>
      </pc:sldChg>
      <pc:sldChg chg="add">
        <pc:chgData name="Abed al Rida Hassan Nehme" userId="b0ef3417-276f-4069-bd38-8883698bac84" providerId="ADAL" clId="{D64DA7CE-AA1B-4A61-9630-7094F0849FA9}" dt="2026-01-15T18:43:43.736" v="282"/>
        <pc:sldMkLst>
          <pc:docMk/>
          <pc:sldMk cId="1512773893" sldId="284"/>
        </pc:sldMkLst>
      </pc:sldChg>
      <pc:sldChg chg="add">
        <pc:chgData name="Abed al Rida Hassan Nehme" userId="b0ef3417-276f-4069-bd38-8883698bac84" providerId="ADAL" clId="{D64DA7CE-AA1B-4A61-9630-7094F0849FA9}" dt="2026-01-15T18:43:44.670" v="283"/>
        <pc:sldMkLst>
          <pc:docMk/>
          <pc:sldMk cId="913094822" sldId="285"/>
        </pc:sldMkLst>
      </pc:sldChg>
      <pc:sldChg chg="add">
        <pc:chgData name="Abed al Rida Hassan Nehme" userId="b0ef3417-276f-4069-bd38-8883698bac84" providerId="ADAL" clId="{D64DA7CE-AA1B-4A61-9630-7094F0849FA9}" dt="2026-01-15T18:43:45.638" v="284"/>
        <pc:sldMkLst>
          <pc:docMk/>
          <pc:sldMk cId="1254585737" sldId="286"/>
        </pc:sldMkLst>
      </pc:sldChg>
      <pc:sldChg chg="add">
        <pc:chgData name="Abed al Rida Hassan Nehme" userId="b0ef3417-276f-4069-bd38-8883698bac84" providerId="ADAL" clId="{D64DA7CE-AA1B-4A61-9630-7094F0849FA9}" dt="2026-01-15T18:43:46.601" v="285"/>
        <pc:sldMkLst>
          <pc:docMk/>
          <pc:sldMk cId="2376926246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20D5-56D8-A4B6-B57E-D56019B53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29AE1-BBD8-1093-BD4A-530235B42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4CCC-EA14-536D-E545-95C340CAB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0638-A762-7145-D7C4-558D84B7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7F1A5-D50C-FDF7-4E0E-0491A5B4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7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1A15-3E73-7610-9F2A-413B73D6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99FE-2750-E2E1-D016-445320A32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1622-BE3E-7926-8EC9-A506653E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9F7D-6EF3-F944-F220-5C55CBB0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6A29-A79D-EDA1-BB7F-8B2A7959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6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AC9D-819E-B7D3-50A4-8B087F3FD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5CE7A-D6BF-B47D-6211-CEBC9E03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91F6F-1FBA-AFC2-57FE-35B8D5C6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C4AED-F39B-EE26-209B-2BE37E92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515AB-2CF0-88D2-D565-E6AFEFAE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2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A979-5088-6750-5417-A3D8151A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6DA9E-E9C1-0085-9A9F-1CD51676A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FE193-636D-01A3-7639-67F8498F6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B290C-0394-92F3-1D80-47C5646A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5A94F-9B6B-F2BA-AD85-04D53D21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58A9D-9F04-AC28-B1F5-3855EBC6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70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0877-24E4-2603-EB0C-254003AD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BBF55-96F2-C57D-F922-007725B7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4A41E-3865-92FC-9EAD-7FE1A015F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83085-C57B-4C22-7852-001ECAA50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5DC92-CCC6-B719-2A31-E1830C887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92B6EC-0EE9-56D1-0900-52A378A2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17E83-2D9D-98E9-D8C9-F32B9507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30A1C-2C03-7B7B-DF78-FD57A49F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5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6F4A-34F5-6978-55BF-AEA062E7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A7ACB-CA67-A3C4-498C-D6FF4EEF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A06D-ABFE-BB4C-D5F8-59847104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96B0A-E7A6-D533-408F-F1BE462A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C107F-1C9C-D94D-092F-E68A04EE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574EE-230E-EDC9-E842-DB877E4E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4788A-AB20-4FFC-00EB-52DAE48A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6C18D-8DAA-7B38-59CF-521B81B2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7FD80-4F09-3588-F73A-789DE1AD7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3FF08-8A62-3B86-E85C-9EFEA7C28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4245C-B5F1-3EB9-EDFC-D1D0A9B6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21A2F-4917-E207-0EE0-3037021D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1FC12-1F94-D85C-C0E9-765B3BFD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8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279D-D4AB-3ADC-216E-6441A736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312A8-624E-6C82-3825-2438C5EBB9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EB952-23E0-A03D-59EE-F52992D6D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F5DB1-27F8-186D-8722-01CF724C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BB81E-7ABF-CACA-E0DE-EF2865FB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42653-E303-8DC5-27E8-69F490E6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3B35-30EE-8200-F3FB-EB9BC57F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97F67-F60E-C6CE-95E2-42100DE2C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2FE5C-A84F-026C-DC43-C11EB184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528FB-C507-3783-C59E-1E05D134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905CB-7277-AF84-C55B-BB0884B0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4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6E488-1AB6-85AF-61FD-673CDE737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C4C6D-D591-6073-7113-23AB45D36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61522-F8B8-34F8-C11B-C45AD681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02C94-3FE0-27FF-B802-5D3A8D9A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D15F-B285-9371-7A57-21EBA0F1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1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326FF-74F4-927F-7E97-4290D765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C397D-8B57-1299-D198-816EF4DAB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6681C-43E8-7CDF-AADD-129C9CA30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26B96-8D99-40BD-8454-78BAC1C7C71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BCD2A-A4F7-34EA-A0CB-55FCD65DB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EDEDF-4661-4784-DD37-87EC21093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8748D-DBAE-4B24-9D73-884C112C8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5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859DA9-C632-42FF-B7E3-EEF97BCE56BD}"/>
              </a:ext>
            </a:extLst>
          </p:cNvPr>
          <p:cNvSpPr txBox="1"/>
          <p:nvPr/>
        </p:nvSpPr>
        <p:spPr>
          <a:xfrm>
            <a:off x="649224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C2D07-6298-5A44-793F-9213D55929DD}"/>
              </a:ext>
            </a:extLst>
          </p:cNvPr>
          <p:cNvSpPr txBox="1"/>
          <p:nvPr/>
        </p:nvSpPr>
        <p:spPr>
          <a:xfrm>
            <a:off x="758952" y="1380744"/>
            <a:ext cx="1099108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Good morning </a:t>
            </a:r>
            <a:r>
              <a:rPr lang="en-US" sz="2500" dirty="0" err="1"/>
              <a:t>everyone.We</a:t>
            </a:r>
            <a:r>
              <a:rPr lang="en-US" sz="2500" dirty="0"/>
              <a:t> are Team SYN SHIELD, and today we present our project titled:</a:t>
            </a:r>
          </a:p>
          <a:p>
            <a:endParaRPr lang="en-US" sz="2500" dirty="0"/>
          </a:p>
          <a:p>
            <a:r>
              <a:rPr lang="en-US" sz="2500" dirty="0"/>
              <a:t>“AI-Based Detection of SYN Flood DDoS Attacks using Huawei </a:t>
            </a:r>
            <a:r>
              <a:rPr lang="en-US" sz="2500" dirty="0" err="1"/>
              <a:t>MindSpore</a:t>
            </a:r>
            <a:r>
              <a:rPr lang="en-US" sz="2500" dirty="0"/>
              <a:t>.”</a:t>
            </a:r>
          </a:p>
          <a:p>
            <a:endParaRPr lang="en-US" sz="2500" dirty="0"/>
          </a:p>
          <a:p>
            <a:r>
              <a:rPr lang="en-US" sz="2500" dirty="0"/>
              <a:t>Our work focuses on using deep learning to detect SYN Flood attacks, one of the most dangerous and common DDoS attack types,</a:t>
            </a:r>
          </a:p>
          <a:p>
            <a:endParaRPr lang="en-US" sz="2500" dirty="0"/>
          </a:p>
          <a:p>
            <a:r>
              <a:rPr lang="en-US" sz="2500" dirty="0"/>
              <a:t> while ensuring the solution is deployment-ready within the Huawei ecosystem.</a:t>
            </a:r>
          </a:p>
          <a:p>
            <a:endParaRPr lang="en-US" sz="2500" dirty="0"/>
          </a:p>
          <a:p>
            <a:r>
              <a:rPr lang="en-US" sz="2500" dirty="0"/>
              <a:t>This project is developed as part of the Huawei ICT Competition 2025–2026.</a:t>
            </a:r>
          </a:p>
        </p:txBody>
      </p:sp>
    </p:spTree>
    <p:extLst>
      <p:ext uri="{BB962C8B-B14F-4D97-AF65-F5344CB8AC3E}">
        <p14:creationId xmlns:p14="http://schemas.microsoft.com/office/powerpoint/2010/main" val="217744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9AE4-64FB-168F-1652-E28653D0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A9302D-9194-0DE3-E8CB-668FE5A34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A1C42-3E03-0E2C-9250-A6ABE9B84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D5B549-1DC7-82E9-262E-3560C2AD8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2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41F3-55A9-8038-0611-DA88BEB2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ED1227-50E4-71CE-64A4-84EBA5BA2A68}"/>
              </a:ext>
            </a:extLst>
          </p:cNvPr>
          <p:cNvSpPr txBox="1"/>
          <p:nvPr/>
        </p:nvSpPr>
        <p:spPr>
          <a:xfrm>
            <a:off x="649224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40AD0-AB9E-FB78-5FA8-B652F10B9AD6}"/>
              </a:ext>
            </a:extLst>
          </p:cNvPr>
          <p:cNvSpPr txBox="1"/>
          <p:nvPr/>
        </p:nvSpPr>
        <p:spPr>
          <a:xfrm>
            <a:off x="758952" y="1197864"/>
            <a:ext cx="1099108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Today, I’ll present our work on AI‑based detection of SYN Flood DDoS attacks using </a:t>
            </a:r>
            <a:r>
              <a:rPr lang="en-US" sz="2500" dirty="0" err="1"/>
              <a:t>MindSpore</a:t>
            </a:r>
            <a:r>
              <a:rPr lang="en-US" sz="2500" dirty="0"/>
              <a:t>.</a:t>
            </a:r>
          </a:p>
          <a:p>
            <a:endParaRPr lang="en-US" sz="2500" dirty="0"/>
          </a:p>
          <a:p>
            <a:r>
              <a:rPr lang="en-US" sz="2500" dirty="0"/>
              <a:t>I’ll briefly introduce the motivation behind this research and the methodology that guided our approach, before presenting the design of the proposed system.</a:t>
            </a:r>
          </a:p>
          <a:p>
            <a:endParaRPr lang="en-US" sz="2500" dirty="0"/>
          </a:p>
          <a:p>
            <a:r>
              <a:rPr lang="en-US" sz="2500" dirty="0"/>
              <a:t>I’ll then explain how raw network traffic is processed and used to train a deep learning model implemented with </a:t>
            </a:r>
            <a:r>
              <a:rPr lang="en-US" sz="2500" dirty="0" err="1"/>
              <a:t>MindSpore</a:t>
            </a:r>
            <a:r>
              <a:rPr lang="en-US" sz="2500" dirty="0"/>
              <a:t>, followed by key experimental results that demonstrate its effectiveness.</a:t>
            </a:r>
          </a:p>
          <a:p>
            <a:endParaRPr lang="en-US" sz="2500" dirty="0"/>
          </a:p>
          <a:p>
            <a:r>
              <a:rPr lang="en-US" sz="2500" dirty="0"/>
              <a:t>Finally, I’ll highlight the practical importance of this work, its relevance to real‑world network security, and conclude with future directions toward industrial and ecosystem integration</a:t>
            </a:r>
          </a:p>
        </p:txBody>
      </p:sp>
    </p:spTree>
    <p:extLst>
      <p:ext uri="{BB962C8B-B14F-4D97-AF65-F5344CB8AC3E}">
        <p14:creationId xmlns:p14="http://schemas.microsoft.com/office/powerpoint/2010/main" val="213424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5D9D-C36D-7FB1-AF85-9CF29202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8D4690-A0AF-9ADC-A8B5-CB97E57F9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B05B2-07AF-F8E2-2985-FF92E0D25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7DFF21-3633-465B-F602-0F621BDC1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6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A7698-CCCC-0A55-1274-0649A7366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85D281-47CB-B496-5C6D-DD088C036AFD}"/>
              </a:ext>
            </a:extLst>
          </p:cNvPr>
          <p:cNvSpPr txBox="1"/>
          <p:nvPr/>
        </p:nvSpPr>
        <p:spPr>
          <a:xfrm>
            <a:off x="649224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B2886-721D-72C8-BE9B-BB292ABD660B}"/>
              </a:ext>
            </a:extLst>
          </p:cNvPr>
          <p:cNvSpPr txBox="1"/>
          <p:nvPr/>
        </p:nvSpPr>
        <p:spPr>
          <a:xfrm>
            <a:off x="758952" y="1197864"/>
            <a:ext cx="1099108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Today, every digital system generates data — websites, mobile apps, cloud services, and </a:t>
            </a:r>
            <a:r>
              <a:rPr lang="en-US" sz="2500" dirty="0" err="1"/>
              <a:t>networks.Every</a:t>
            </a:r>
            <a:r>
              <a:rPr lang="en-US" sz="2500" dirty="0"/>
              <a:t> click, connection, and request leaves a digital footprint.</a:t>
            </a:r>
          </a:p>
          <a:p>
            <a:endParaRPr lang="en-US" sz="2500" dirty="0"/>
          </a:p>
          <a:p>
            <a:r>
              <a:rPr lang="en-US" sz="2500" dirty="0"/>
              <a:t>This data is extremely valuable because it tells us what is normal behavior and what looks suspicious.</a:t>
            </a:r>
          </a:p>
          <a:p>
            <a:endParaRPr lang="en-US" sz="2500" dirty="0"/>
          </a:p>
          <a:p>
            <a:r>
              <a:rPr lang="en-US" sz="2500" dirty="0"/>
              <a:t>In simple </a:t>
            </a:r>
            <a:r>
              <a:rPr lang="en-US" sz="2500" dirty="0" err="1"/>
              <a:t>terms:No</a:t>
            </a:r>
            <a:r>
              <a:rPr lang="en-US" sz="2500" dirty="0"/>
              <a:t> data means no intelligence.</a:t>
            </a:r>
          </a:p>
          <a:p>
            <a:endParaRPr lang="en-US" sz="2500" dirty="0"/>
          </a:p>
          <a:p>
            <a:r>
              <a:rPr lang="en-US" sz="2500" dirty="0"/>
              <a:t>Artificial intelligence and modern cybersecurity systems depend on data to learn, adapt, and make decisions in real time.</a:t>
            </a:r>
          </a:p>
          <a:p>
            <a:endParaRPr lang="en-US" sz="2500" dirty="0"/>
          </a:p>
          <a:p>
            <a:r>
              <a:rPr lang="en-US" sz="2500" dirty="0"/>
              <a:t>Our software uses this traffic data to understand behavior, not just react to predefined rules.</a:t>
            </a:r>
          </a:p>
        </p:txBody>
      </p:sp>
    </p:spTree>
    <p:extLst>
      <p:ext uri="{BB962C8B-B14F-4D97-AF65-F5344CB8AC3E}">
        <p14:creationId xmlns:p14="http://schemas.microsoft.com/office/powerpoint/2010/main" val="158880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8D1C-1328-FB7C-BEFB-AADACEFA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74F305-F29D-2F1C-1B23-11A26C1FE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DC9E0-58A3-D14F-9D38-46B17F943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D151F6-7612-15B6-404A-01D1CAAE5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2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EDE0-E7A2-096F-8F93-F4A17B4E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CB689B-0300-E4AC-7037-27816FAD1C4C}"/>
              </a:ext>
            </a:extLst>
          </p:cNvPr>
          <p:cNvSpPr txBox="1"/>
          <p:nvPr/>
        </p:nvSpPr>
        <p:spPr>
          <a:xfrm>
            <a:off x="649224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63CDF-1DC0-B8F3-0A99-54111746581A}"/>
              </a:ext>
            </a:extLst>
          </p:cNvPr>
          <p:cNvSpPr txBox="1"/>
          <p:nvPr/>
        </p:nvSpPr>
        <p:spPr>
          <a:xfrm>
            <a:off x="758952" y="1197864"/>
            <a:ext cx="1099108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As companies move online, their exposure to cyberattacks increases </a:t>
            </a:r>
            <a:r>
              <a:rPr lang="en-US" sz="2500" dirty="0" err="1"/>
              <a:t>dramatically.A</a:t>
            </a:r>
            <a:r>
              <a:rPr lang="en-US" sz="2500" dirty="0"/>
              <a:t> single successful attack can cause:</a:t>
            </a:r>
          </a:p>
          <a:p>
            <a:endParaRPr lang="en-US" sz="2500" dirty="0"/>
          </a:p>
          <a:p>
            <a:r>
              <a:rPr lang="en-US" sz="2500" dirty="0"/>
              <a:t>	•	Service downtime	</a:t>
            </a:r>
          </a:p>
          <a:p>
            <a:r>
              <a:rPr lang="en-US" sz="2500" dirty="0"/>
              <a:t>	•	Direct financial losses	</a:t>
            </a:r>
          </a:p>
          <a:p>
            <a:r>
              <a:rPr lang="en-US" sz="2500" dirty="0"/>
              <a:t>	•	Damage to company reputation</a:t>
            </a:r>
          </a:p>
          <a:p>
            <a:r>
              <a:rPr lang="en-US" sz="2500" dirty="0"/>
              <a:t>	•	Even risks to national infrastructure</a:t>
            </a:r>
          </a:p>
          <a:p>
            <a:endParaRPr lang="en-US" sz="2500" dirty="0"/>
          </a:p>
          <a:p>
            <a:r>
              <a:rPr lang="en-US" sz="2500" dirty="0"/>
              <a:t>What’s important here is not just how many attacks happen, but how sophisticated they are becoming.</a:t>
            </a:r>
          </a:p>
          <a:p>
            <a:endParaRPr lang="en-US" sz="2500" dirty="0"/>
          </a:p>
          <a:p>
            <a:r>
              <a:rPr lang="en-US" sz="2500" dirty="0"/>
              <a:t>Attackers now use automation and intelligence — which means defense must do the </a:t>
            </a:r>
            <a:r>
              <a:rPr lang="en-US" sz="2500" dirty="0" err="1"/>
              <a:t>same.This</a:t>
            </a:r>
            <a:r>
              <a:rPr lang="en-US" sz="2500" dirty="0"/>
              <a:t> is why modern cybersecurity is shifting from manual, rule-based tools to AI-driven systems that can adapt instantly.</a:t>
            </a:r>
          </a:p>
        </p:txBody>
      </p:sp>
    </p:spTree>
    <p:extLst>
      <p:ext uri="{BB962C8B-B14F-4D97-AF65-F5344CB8AC3E}">
        <p14:creationId xmlns:p14="http://schemas.microsoft.com/office/powerpoint/2010/main" val="348539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28C0-2B30-6517-179B-1668CAC0C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EC809-5549-9E3F-F87E-0B6705171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5DE42E-3008-6B7F-EAFC-09DD9A303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35DA83-1EFC-64D6-10ED-DDEC81358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06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8A7A-738D-8DD3-6F0E-E7C8AFA8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A04E50-3E00-A67D-5CC6-F7DA272DE1B6}"/>
              </a:ext>
            </a:extLst>
          </p:cNvPr>
          <p:cNvSpPr txBox="1"/>
          <p:nvPr/>
        </p:nvSpPr>
        <p:spPr>
          <a:xfrm>
            <a:off x="665266" y="738418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EE144-7E40-E2A3-37C9-4514B8399DE0}"/>
              </a:ext>
            </a:extLst>
          </p:cNvPr>
          <p:cNvSpPr txBox="1"/>
          <p:nvPr/>
        </p:nvSpPr>
        <p:spPr>
          <a:xfrm>
            <a:off x="845579" y="0"/>
            <a:ext cx="1099108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We focus on DDoS attacks because they target the most critical aspect of any digital service: availability.</a:t>
            </a:r>
          </a:p>
          <a:p>
            <a:endParaRPr lang="en-US" sz="2500" dirty="0"/>
          </a:p>
          <a:p>
            <a:r>
              <a:rPr lang="en-US" sz="2500" dirty="0"/>
              <a:t>A system doesn’t need to be hacked or have data stolen to fail —if users cannot access it, the business is already losing money.</a:t>
            </a:r>
          </a:p>
          <a:p>
            <a:endParaRPr lang="en-US" sz="2500" dirty="0"/>
          </a:p>
          <a:p>
            <a:r>
              <a:rPr lang="en-US" sz="2500" dirty="0"/>
              <a:t>DDoS attacks are especially dangerous because:	</a:t>
            </a:r>
          </a:p>
          <a:p>
            <a:r>
              <a:rPr lang="en-US" sz="2500" dirty="0"/>
              <a:t>•	They are easy to launch	</a:t>
            </a:r>
          </a:p>
          <a:p>
            <a:r>
              <a:rPr lang="en-US" sz="2500" dirty="0"/>
              <a:t>•	They are cheap for attackers	</a:t>
            </a:r>
          </a:p>
          <a:p>
            <a:r>
              <a:rPr lang="en-US" sz="2500" dirty="0"/>
              <a:t>•	And they are very hard to stop</a:t>
            </a:r>
          </a:p>
          <a:p>
            <a:r>
              <a:rPr lang="en-US" sz="2500" dirty="0"/>
              <a:t>Even large companies with strong security can be taken offline for </a:t>
            </a:r>
            <a:r>
              <a:rPr lang="en-US" sz="2500" dirty="0" err="1"/>
              <a:t>hours.These</a:t>
            </a:r>
            <a:r>
              <a:rPr lang="en-US" sz="2500" dirty="0"/>
              <a:t> attacks affect:	</a:t>
            </a:r>
          </a:p>
          <a:p>
            <a:r>
              <a:rPr lang="en-US" sz="2500" dirty="0"/>
              <a:t>•	Websites	</a:t>
            </a:r>
          </a:p>
          <a:p>
            <a:r>
              <a:rPr lang="en-US" sz="2500" dirty="0"/>
              <a:t>•	Cloud platforms	</a:t>
            </a:r>
          </a:p>
          <a:p>
            <a:r>
              <a:rPr lang="en-US" sz="2500" dirty="0"/>
              <a:t>•	Banks	</a:t>
            </a:r>
          </a:p>
          <a:p>
            <a:r>
              <a:rPr lang="en-US" sz="2500" dirty="0"/>
              <a:t>•	E-commerce	</a:t>
            </a:r>
          </a:p>
          <a:p>
            <a:r>
              <a:rPr lang="en-US" sz="2500" dirty="0"/>
              <a:t>•	Government </a:t>
            </a:r>
            <a:r>
              <a:rPr lang="en-US" sz="2500" dirty="0" err="1"/>
              <a:t>servicesThat’s</a:t>
            </a:r>
            <a:r>
              <a:rPr lang="en-US" sz="2500" dirty="0"/>
              <a:t> why DDoS attacks are one of the most common and damaging cyber threats worldwide.</a:t>
            </a:r>
          </a:p>
        </p:txBody>
      </p:sp>
    </p:spTree>
    <p:extLst>
      <p:ext uri="{BB962C8B-B14F-4D97-AF65-F5344CB8AC3E}">
        <p14:creationId xmlns:p14="http://schemas.microsoft.com/office/powerpoint/2010/main" val="3456168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FDBB7-20DB-5957-A5DB-A67C9B67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D04C07-3743-B0DF-8965-ABDA02AA9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E58819-BC52-C280-CFB6-5102C94DB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E72BCE-7031-45F2-7CD7-379BA71B9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4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17B7-FB8D-1A73-5F8A-A94D94F0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A7D905-06FD-B893-F6C2-A280BAB1A610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257C2-2F65-7351-75D3-3578EBFC3846}"/>
              </a:ext>
            </a:extLst>
          </p:cNvPr>
          <p:cNvSpPr txBox="1"/>
          <p:nvPr/>
        </p:nvSpPr>
        <p:spPr>
          <a:xfrm>
            <a:off x="845579" y="561473"/>
            <a:ext cx="1099108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SYN Flood attacks exploit the TCP three-way handshake </a:t>
            </a:r>
            <a:r>
              <a:rPr lang="en-US" sz="2500" dirty="0" err="1"/>
              <a:t>mechanism.Attackers</a:t>
            </a:r>
            <a:r>
              <a:rPr lang="en-US" sz="2500" dirty="0"/>
              <a:t> send a large number of SYN requests without completing the connection, exhausting server resources.</a:t>
            </a:r>
          </a:p>
          <a:p>
            <a:endParaRPr lang="en-US" sz="2500" dirty="0"/>
          </a:p>
          <a:p>
            <a:r>
              <a:rPr lang="en-US" sz="2500" dirty="0"/>
              <a:t>These attacks are especially dangerous because:</a:t>
            </a:r>
          </a:p>
          <a:p>
            <a:endParaRPr lang="en-US" sz="2500" dirty="0"/>
          </a:p>
          <a:p>
            <a:r>
              <a:rPr lang="en-US" sz="2500" dirty="0"/>
              <a:t>They look very similar to normal traffic</a:t>
            </a:r>
          </a:p>
          <a:p>
            <a:r>
              <a:rPr lang="en-US" sz="2500" dirty="0"/>
              <a:t>They require minimal attacker resources</a:t>
            </a:r>
          </a:p>
          <a:p>
            <a:r>
              <a:rPr lang="en-US" sz="2500" dirty="0"/>
              <a:t>They are frequently observed in real-world attacks</a:t>
            </a:r>
          </a:p>
          <a:p>
            <a:endParaRPr lang="en-US" sz="2500" dirty="0"/>
          </a:p>
          <a:p>
            <a:r>
              <a:rPr lang="en-US" sz="2500" dirty="0"/>
              <a:t>This makes accurate detection a challenging but important problem.</a:t>
            </a:r>
          </a:p>
        </p:txBody>
      </p:sp>
    </p:spTree>
    <p:extLst>
      <p:ext uri="{BB962C8B-B14F-4D97-AF65-F5344CB8AC3E}">
        <p14:creationId xmlns:p14="http://schemas.microsoft.com/office/powerpoint/2010/main" val="71058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5571-8634-6D24-49B6-D6E8BD55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AB732-16BD-150E-28B2-F8311FD7C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CD309E-89C9-6F0A-85D7-F04FF445C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03EED-53B0-D572-44B2-5724F1119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41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4032-DC57-980F-379A-3C93F5E9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65D369-5E39-D52F-2303-C8C2AAC0C160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89ADE-8FB9-F637-1CB9-8D8FFDFDB75D}"/>
              </a:ext>
            </a:extLst>
          </p:cNvPr>
          <p:cNvSpPr txBox="1"/>
          <p:nvPr/>
        </p:nvSpPr>
        <p:spPr>
          <a:xfrm>
            <a:off x="845579" y="1459230"/>
            <a:ext cx="1099108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Traditional security systems rely on rules and signatures, which are static and inflexible.</a:t>
            </a:r>
          </a:p>
          <a:p>
            <a:endParaRPr lang="en-US" sz="2500" dirty="0"/>
          </a:p>
          <a:p>
            <a:r>
              <a:rPr lang="en-US" sz="2500" dirty="0"/>
              <a:t>In contrast, AI-enabled security systems learn patterns directly from data.</a:t>
            </a:r>
          </a:p>
          <a:p>
            <a:endParaRPr lang="en-US" sz="2500" dirty="0"/>
          </a:p>
          <a:p>
            <a:r>
              <a:rPr lang="en-US" sz="2500" dirty="0"/>
              <a:t>They can adapt to evolving attacks and detect previously unseen threats.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Instead of memorizing attacks, AI systems learn how attacks behave, which significantly improves detection capability</a:t>
            </a:r>
          </a:p>
        </p:txBody>
      </p:sp>
    </p:spTree>
    <p:extLst>
      <p:ext uri="{BB962C8B-B14F-4D97-AF65-F5344CB8AC3E}">
        <p14:creationId xmlns:p14="http://schemas.microsoft.com/office/powerpoint/2010/main" val="116349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EB20-E8E2-821D-1792-EDD91B4B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1608B1-2DC5-453D-1194-E6B4B8E42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E1D61B-6259-7685-E114-85AC82658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E5D801-35CD-F66E-45C3-32EE99A89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3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877FE-546F-0362-7A09-1E97F76C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47A191-6B96-AC9F-5837-679D7AF1B311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4C696-8968-C487-5149-0C0C4637729A}"/>
              </a:ext>
            </a:extLst>
          </p:cNvPr>
          <p:cNvSpPr txBox="1"/>
          <p:nvPr/>
        </p:nvSpPr>
        <p:spPr>
          <a:xfrm>
            <a:off x="845579" y="1459230"/>
            <a:ext cx="1099108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Deep learning is especially effective for DDoS detection for three main reasons.</a:t>
            </a:r>
          </a:p>
          <a:p>
            <a:endParaRPr lang="en-US" sz="2500" dirty="0"/>
          </a:p>
          <a:p>
            <a:r>
              <a:rPr lang="en-US" sz="2500" dirty="0"/>
              <a:t>First, it excels at recognizing complex patterns in high-dimensional data.</a:t>
            </a:r>
          </a:p>
          <a:p>
            <a:endParaRPr lang="en-US" sz="2500" dirty="0"/>
          </a:p>
          <a:p>
            <a:r>
              <a:rPr lang="en-US" sz="2500" dirty="0"/>
              <a:t>Second, network traffic can be converted into image-like representations, making it suitable for CNN-based models.</a:t>
            </a:r>
          </a:p>
          <a:p>
            <a:endParaRPr lang="en-US" sz="2500" dirty="0"/>
          </a:p>
          <a:p>
            <a:r>
              <a:rPr lang="en-US" sz="2500" dirty="0"/>
              <a:t>Third, deep learning eliminates the need for manual feature engineering, reducing human bias and effort.</a:t>
            </a:r>
          </a:p>
        </p:txBody>
      </p:sp>
    </p:spTree>
    <p:extLst>
      <p:ext uri="{BB962C8B-B14F-4D97-AF65-F5344CB8AC3E}">
        <p14:creationId xmlns:p14="http://schemas.microsoft.com/office/powerpoint/2010/main" val="3477393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2F7E-73F5-B239-CF16-48E9299C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99B7E5-5D8C-0206-D528-CFC183AED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7FAED-2A4A-2BED-D33F-397A2DF43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8D84C0-B7C5-A1A8-9194-1A2689A41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5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2065-0BD5-908D-9647-9A48A391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524EE1-4747-398F-AB0F-DF32B281C24F}"/>
              </a:ext>
            </a:extLst>
          </p:cNvPr>
          <p:cNvSpPr txBox="1"/>
          <p:nvPr/>
        </p:nvSpPr>
        <p:spPr>
          <a:xfrm>
            <a:off x="260363" y="722376"/>
            <a:ext cx="58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3120E-C2EE-1BA5-37D1-9BFAF3820192}"/>
              </a:ext>
            </a:extLst>
          </p:cNvPr>
          <p:cNvSpPr txBox="1"/>
          <p:nvPr/>
        </p:nvSpPr>
        <p:spPr>
          <a:xfrm>
            <a:off x="845579" y="1459230"/>
            <a:ext cx="109910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We chose </a:t>
            </a:r>
            <a:r>
              <a:rPr lang="en-US" sz="2500" dirty="0" err="1"/>
              <a:t>ResNet</a:t>
            </a:r>
            <a:r>
              <a:rPr lang="en-US" sz="2500" dirty="0"/>
              <a:t>-based architectures because they solve deep network training issues using residual connections.</a:t>
            </a:r>
          </a:p>
          <a:p>
            <a:endParaRPr lang="en-US" sz="2500" dirty="0"/>
          </a:p>
          <a:p>
            <a:r>
              <a:rPr lang="en-US" sz="2500" dirty="0"/>
              <a:t>We specifically selected ResNeXt50-32x4d, which improves feature diversity without increasing complexity.</a:t>
            </a:r>
          </a:p>
          <a:p>
            <a:endParaRPr lang="en-US" sz="2500" dirty="0"/>
          </a:p>
          <a:p>
            <a:r>
              <a:rPr lang="en-US" sz="2500" dirty="0"/>
              <a:t>This architecture offers high accuracy, scalability, and efficiency, and is fully supported within Huawei’s </a:t>
            </a:r>
            <a:r>
              <a:rPr lang="en-US" sz="2500" dirty="0" err="1"/>
              <a:t>MindCV</a:t>
            </a:r>
            <a:r>
              <a:rPr lang="en-US" sz="2500" dirty="0"/>
              <a:t> and </a:t>
            </a:r>
            <a:r>
              <a:rPr lang="en-US" sz="2500" dirty="0" err="1"/>
              <a:t>MindSpore</a:t>
            </a:r>
            <a:r>
              <a:rPr lang="en-US" sz="2500" dirty="0"/>
              <a:t> ecosystem.</a:t>
            </a:r>
          </a:p>
        </p:txBody>
      </p:sp>
    </p:spTree>
    <p:extLst>
      <p:ext uri="{BB962C8B-B14F-4D97-AF65-F5344CB8AC3E}">
        <p14:creationId xmlns:p14="http://schemas.microsoft.com/office/powerpoint/2010/main" val="339015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F40B-9DDB-6BD3-9DEB-9E241833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94C8DD-7EA9-6780-2A5E-AA4ADD0E4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64DD4C-516A-7266-42FF-2973B2477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DB5A4-522D-C67C-AE4A-51C0A4D2D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1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8072-EC49-F93F-6787-EFEA2DC8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36935B-E945-A044-D2EB-D761573209EE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4163E-9F99-1AC0-EDA6-292F3F70551D}"/>
              </a:ext>
            </a:extLst>
          </p:cNvPr>
          <p:cNvSpPr txBox="1"/>
          <p:nvPr/>
        </p:nvSpPr>
        <p:spPr>
          <a:xfrm>
            <a:off x="845579" y="1459230"/>
            <a:ext cx="109910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Our methodology consists of two main steps.</a:t>
            </a:r>
          </a:p>
          <a:p>
            <a:endParaRPr lang="en-US" sz="2500" dirty="0"/>
          </a:p>
          <a:p>
            <a:r>
              <a:rPr lang="en-US" sz="2500" dirty="0"/>
              <a:t>First, raw PCAP network traffic is processed by extracting TCP SYN packets and converting them into normalized, AI-ready representations.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Second, the dataset is carefully split into training, validation, and test sets, with the test set kept unseen to ensure unbiased evaluation.</a:t>
            </a:r>
          </a:p>
        </p:txBody>
      </p:sp>
    </p:spTree>
    <p:extLst>
      <p:ext uri="{BB962C8B-B14F-4D97-AF65-F5344CB8AC3E}">
        <p14:creationId xmlns:p14="http://schemas.microsoft.com/office/powerpoint/2010/main" val="2714424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66016-734D-DFA5-A345-75AAA05A9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C22C1-6477-DBE4-B0E9-2DA4AA33C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364B7-C53B-C070-3564-7215F404C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02C21-1340-2436-C9BB-2A7A8534D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96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0482-5080-A62A-4F7B-53F61ACEA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0F1151-86DD-D208-4067-B988CC62E4C5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FD31E-E0A6-7434-3A6B-C524D6EF5F59}"/>
              </a:ext>
            </a:extLst>
          </p:cNvPr>
          <p:cNvSpPr txBox="1"/>
          <p:nvPr/>
        </p:nvSpPr>
        <p:spPr>
          <a:xfrm>
            <a:off x="845579" y="1459230"/>
            <a:ext cx="1099108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This slide shows our complete end-to-end pipeline.</a:t>
            </a:r>
          </a:p>
          <a:p>
            <a:endParaRPr lang="en-US" sz="2500" dirty="0"/>
          </a:p>
          <a:p>
            <a:r>
              <a:rPr lang="en-US" sz="2500" dirty="0"/>
              <a:t>Network traffic is captured as PCAP files, then converted into grayscale images.</a:t>
            </a:r>
          </a:p>
          <a:p>
            <a:endParaRPr lang="en-US" sz="2500" dirty="0"/>
          </a:p>
          <a:p>
            <a:r>
              <a:rPr lang="en-US" sz="2500" dirty="0"/>
              <a:t>These images are fed into the ResNeXt50-32x4d model, which classifies traffic as either Normal or SYN Flood attack.</a:t>
            </a:r>
          </a:p>
          <a:p>
            <a:endParaRPr lang="en-US" sz="2500" dirty="0"/>
          </a:p>
          <a:p>
            <a:r>
              <a:rPr lang="en-US" sz="2500" dirty="0"/>
              <a:t>The entire pipeline requires minimal manual intervention, making it suitable for real-world deployment.</a:t>
            </a:r>
          </a:p>
        </p:txBody>
      </p:sp>
    </p:spTree>
    <p:extLst>
      <p:ext uri="{BB962C8B-B14F-4D97-AF65-F5344CB8AC3E}">
        <p14:creationId xmlns:p14="http://schemas.microsoft.com/office/powerpoint/2010/main" val="246174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DD10B-045D-0440-C3B9-5A8E0202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20FFA8-0407-E2EF-A32B-754FCF5F3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9A193-5E21-3884-06B6-34BDAE0DB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0A23B5-5A9F-6ABC-96C5-F36DB4D99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30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6C18-B2BB-3869-7209-F41FEBA8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5EA5E3-DEA1-1C48-4584-93485BFB4362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4D078-A034-F145-DEA7-FA77EC921003}"/>
              </a:ext>
            </a:extLst>
          </p:cNvPr>
          <p:cNvSpPr txBox="1"/>
          <p:nvPr/>
        </p:nvSpPr>
        <p:spPr>
          <a:xfrm>
            <a:off x="845579" y="1459230"/>
            <a:ext cx="1099108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Data processing includes parsing PCAP files using network analysis tools.</a:t>
            </a:r>
          </a:p>
          <a:p>
            <a:endParaRPr lang="en-US" sz="2500" dirty="0"/>
          </a:p>
          <a:p>
            <a:r>
              <a:rPr lang="en-US" sz="2500" dirty="0"/>
              <a:t>We extract TCP SYN packets, transform the raw traffic into AI-processable representations, </a:t>
            </a:r>
          </a:p>
          <a:p>
            <a:endParaRPr lang="en-US" sz="2500" dirty="0"/>
          </a:p>
          <a:p>
            <a:r>
              <a:rPr lang="en-US" sz="2500" dirty="0"/>
              <a:t>and apply class balancing to handle data imbalance.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This ensures that the model learns equally from attack and normal traffic patterns.</a:t>
            </a:r>
          </a:p>
        </p:txBody>
      </p:sp>
    </p:spTree>
    <p:extLst>
      <p:ext uri="{BB962C8B-B14F-4D97-AF65-F5344CB8AC3E}">
        <p14:creationId xmlns:p14="http://schemas.microsoft.com/office/powerpoint/2010/main" val="546832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38F7B-6AA0-CF35-F5B5-197062EC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6865E-9965-4940-F23D-0707CC7BC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46F8C-8886-6963-8146-18594CA4C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5A4A7-5E0C-44B4-47FE-C587D942F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73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52B8-0BEF-DF76-56C7-57E92733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C5D547-4CB2-BF9E-7817-E324A19BA236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D9F5B-0F26-2805-CE9F-C933AAE00F43}"/>
              </a:ext>
            </a:extLst>
          </p:cNvPr>
          <p:cNvSpPr txBox="1"/>
          <p:nvPr/>
        </p:nvSpPr>
        <p:spPr>
          <a:xfrm>
            <a:off x="845579" y="1459230"/>
            <a:ext cx="1099108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Huawei </a:t>
            </a:r>
            <a:r>
              <a:rPr lang="en-US" sz="2500" dirty="0" err="1"/>
              <a:t>MindSpore</a:t>
            </a:r>
            <a:r>
              <a:rPr lang="en-US" sz="2500" dirty="0"/>
              <a:t> is the core framework used in our implementation.</a:t>
            </a:r>
          </a:p>
          <a:p>
            <a:endParaRPr lang="en-US" sz="2500" dirty="0"/>
          </a:p>
          <a:p>
            <a:r>
              <a:rPr lang="en-US" sz="2500" dirty="0"/>
              <a:t>It provides efficient model training, optimization, and execution, while being optimized for Huawei hardware.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Most importantly, </a:t>
            </a:r>
            <a:r>
              <a:rPr lang="en-US" sz="2500" dirty="0" err="1"/>
              <a:t>MindSpore</a:t>
            </a:r>
            <a:r>
              <a:rPr lang="en-US" sz="2500" dirty="0"/>
              <a:t> bridges the gap between academic research and industrial deployment, </a:t>
            </a:r>
          </a:p>
          <a:p>
            <a:endParaRPr lang="en-US" sz="2500" dirty="0"/>
          </a:p>
          <a:p>
            <a:r>
              <a:rPr lang="en-US" sz="2500" dirty="0"/>
              <a:t>enabling research-to-production pipelines.</a:t>
            </a:r>
          </a:p>
        </p:txBody>
      </p:sp>
    </p:spTree>
    <p:extLst>
      <p:ext uri="{BB962C8B-B14F-4D97-AF65-F5344CB8AC3E}">
        <p14:creationId xmlns:p14="http://schemas.microsoft.com/office/powerpoint/2010/main" val="947436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F006-1180-0683-F0AD-E458F9C09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0E1DEA-FD46-C6EB-0312-9E9C54991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B5EA3-A584-AF08-402C-1161D2A45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77824B-A7EA-61B1-E93C-C4B892365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94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FBFB-8BB8-1EF9-AFA8-D8416421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C9786F-E63D-2F99-9406-AF1500DC658C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F8C40-7025-008B-3181-4AF5EB07D047}"/>
              </a:ext>
            </a:extLst>
          </p:cNvPr>
          <p:cNvSpPr txBox="1"/>
          <p:nvPr/>
        </p:nvSpPr>
        <p:spPr>
          <a:xfrm>
            <a:off x="845579" y="1459230"/>
            <a:ext cx="1099108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Our system is evaluated as a binary classification task: SYN Flood versus normal traffic.</a:t>
            </a:r>
          </a:p>
          <a:p>
            <a:endParaRPr lang="en-US" sz="2500" dirty="0"/>
          </a:p>
          <a:p>
            <a:r>
              <a:rPr lang="en-US" sz="2500" dirty="0"/>
              <a:t>We achieved an accuracy of 97.5%, with high precision, recall, and F1-score.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Training and validation curves show stable convergence, no significant overfitting, and consistent loss reduction.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These results demonstrate strong and reliable detection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40013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293D-C938-A796-106D-5111C498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40E480-6234-B33A-6AFC-E1CE195C3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303B8B-BBFB-770B-90EA-927B2C398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B7EB25-920F-74F7-D664-20C1F4241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85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D631-4E38-42E1-F44F-B82F6DB1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56B7EA-4CF1-0A2A-9DB6-50FD68814BD7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A1CFA-7042-F49A-6311-A619823E9239}"/>
              </a:ext>
            </a:extLst>
          </p:cNvPr>
          <p:cNvSpPr txBox="1"/>
          <p:nvPr/>
        </p:nvSpPr>
        <p:spPr>
          <a:xfrm>
            <a:off x="845579" y="1459230"/>
            <a:ext cx="1099108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Our solution is fully aligned with the Huawei ecosystem.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It is designed for deployment on Huawei routers, switches, and security devices.</a:t>
            </a:r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The system supports edge AI, real-time inference, and low-latency detection, and can operate alongside Huawei’s network analysis tools.</a:t>
            </a:r>
          </a:p>
          <a:p>
            <a:endParaRPr lang="en-US" sz="2500" dirty="0"/>
          </a:p>
          <a:p>
            <a:r>
              <a:rPr lang="en-US" sz="2500" dirty="0"/>
              <a:t>This makes the solution deployment-ready, not just theoretical</a:t>
            </a:r>
          </a:p>
        </p:txBody>
      </p:sp>
    </p:spTree>
    <p:extLst>
      <p:ext uri="{BB962C8B-B14F-4D97-AF65-F5344CB8AC3E}">
        <p14:creationId xmlns:p14="http://schemas.microsoft.com/office/powerpoint/2010/main" val="1472506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65B2-E41C-53CD-3F3A-981B8478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B6E5EC-F7FF-66DA-A873-62B758D44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B4DCBA-2899-682A-875B-E2A8DE0B0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12E3A0-1B28-4163-7D29-314D3200C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26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1738-9A9A-2CAF-E1B9-4C8F8617C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040F98-8E08-532A-1EB6-DA307D7FAB78}"/>
              </a:ext>
            </a:extLst>
          </p:cNvPr>
          <p:cNvSpPr txBox="1"/>
          <p:nvPr/>
        </p:nvSpPr>
        <p:spPr>
          <a:xfrm>
            <a:off x="260363" y="722376"/>
            <a:ext cx="5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CCB7A-ABB0-8A6A-2110-55FC35F50063}"/>
              </a:ext>
            </a:extLst>
          </p:cNvPr>
          <p:cNvSpPr txBox="1"/>
          <p:nvPr/>
        </p:nvSpPr>
        <p:spPr>
          <a:xfrm>
            <a:off x="845579" y="384603"/>
            <a:ext cx="1165122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In conclusion, AI-based SYN Flood detection is both effective and </a:t>
            </a:r>
            <a:r>
              <a:rPr lang="en-US" sz="2500" dirty="0" err="1"/>
              <a:t>practical.Huawei</a:t>
            </a:r>
            <a:r>
              <a:rPr lang="en-US" sz="2500" dirty="0"/>
              <a:t> </a:t>
            </a:r>
            <a:r>
              <a:rPr lang="en-US" sz="2500" dirty="0" err="1"/>
              <a:t>MindSpore</a:t>
            </a:r>
            <a:r>
              <a:rPr lang="en-US" sz="2500" dirty="0"/>
              <a:t> provides a robust and scalable AI framework that enables real-world deployment.</a:t>
            </a:r>
          </a:p>
          <a:p>
            <a:endParaRPr lang="en-US" sz="2500" dirty="0"/>
          </a:p>
          <a:p>
            <a:r>
              <a:rPr lang="en-US" sz="2500" dirty="0"/>
              <a:t>For future work, we plan to</a:t>
            </a:r>
          </a:p>
          <a:p>
            <a:endParaRPr lang="en-US" sz="2500" dirty="0"/>
          </a:p>
          <a:p>
            <a:r>
              <a:rPr lang="en-US" sz="2500" dirty="0"/>
              <a:t>extend detection to multiple DDoS attack types,</a:t>
            </a:r>
          </a:p>
          <a:p>
            <a:r>
              <a:rPr lang="en-US" sz="2500" dirty="0"/>
              <a:t> and deploy the system on live networks.</a:t>
            </a:r>
          </a:p>
          <a:p>
            <a:r>
              <a:rPr lang="en-US" sz="2500" dirty="0"/>
              <a:t>Integration with SDN and cloud monitoring platforms</a:t>
            </a:r>
          </a:p>
          <a:p>
            <a:r>
              <a:rPr lang="en-US" sz="2500" dirty="0"/>
              <a:t>Real‑time deployment on Huawei network devices</a:t>
            </a:r>
          </a:p>
          <a:p>
            <a:r>
              <a:rPr lang="en-US" sz="2500" dirty="0"/>
              <a:t>Optimization for Huawei Ascend hardware</a:t>
            </a:r>
          </a:p>
          <a:p>
            <a:r>
              <a:rPr lang="en-US" sz="2500" dirty="0"/>
              <a:t>Journal publication and open research continuation through IEEE - </a:t>
            </a:r>
            <a:r>
              <a:rPr lang="en-US" sz="2500" dirty="0" err="1"/>
              <a:t>SmartNets</a:t>
            </a:r>
            <a:r>
              <a:rPr lang="en-US" sz="2500" dirty="0"/>
              <a:t> 2026</a:t>
            </a:r>
          </a:p>
          <a:p>
            <a:r>
              <a:rPr lang="en-US" sz="2500" dirty="0"/>
              <a:t>The International Conference on Smart Applications, Communications and Networking</a:t>
            </a:r>
          </a:p>
          <a:p>
            <a:endParaRPr lang="en-US" sz="2500" dirty="0"/>
          </a:p>
          <a:p>
            <a:r>
              <a:rPr lang="en-US" sz="2500" dirty="0"/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597031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792AE8-8A9F-ED03-E9B3-ED4AF51F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4"/>
            <a:ext cx="12191999" cy="68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A13F61-F43E-12A0-A151-12DC790F9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91" y="1951581"/>
            <a:ext cx="1676352" cy="29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15CD4-DB2A-B40B-22E2-D85BF6F96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59" y="2199130"/>
            <a:ext cx="2459736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7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1182</Words>
  <Application>Microsoft Office PowerPoint</Application>
  <PresentationFormat>Widescreen</PresentationFormat>
  <Paragraphs>154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Abed al Rida Hassan Nehme</dc:creator>
  <cp:lastModifiedBy>Abed al Rida Hassan Nehme</cp:lastModifiedBy>
  <cp:revision>1</cp:revision>
  <dcterms:created xsi:type="dcterms:W3CDTF">2026-01-15T18:15:18Z</dcterms:created>
  <dcterms:modified xsi:type="dcterms:W3CDTF">2026-01-15T18:43:48Z</dcterms:modified>
</cp:coreProperties>
</file>